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business-control transformation rather than simply a software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recommendation: one core operating backbone for Day 1, not an attempt to transform every function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real problem is not just “old ERP”; it is disconnected data causing business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remind reviewers that every scope decision is judged against these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location waves should be confirmed during discovery based on site readiness, shared inventory and intercompany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most likely to be challenged. Defend scope by tying every inclusion/deferment to business continuity and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uninterrupted access is satisfied by a secure archive plus selected migration. This reduces cost and migration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reviewers the month-end close is a business-critical test. The first close should not be discovered after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asked for the biggest risk, identify BOM/master-data quality or go-live disruption and explain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is about who can make decisions. This prevents every department from expanding scope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executive alignment on governance, scope principles and dedicated business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217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Alpha Manufacturing Group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7132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Transformation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Presentation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766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AF2"/>
                </a:solidFill>
              </a:rPr>
              <a:t>Business-led cloud ERP replacement strategy to protect operations, strengthen data governance and improve margin transparency.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3950208"/>
            <a:ext cx="1965960" cy="0"/>
          </a:xfrm>
          <a:prstGeom prst="line">
            <a:avLst/>
          </a:prstGeom>
          <a:noFill/>
          <a:ln w="2794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297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FD0DE"/>
                </a:solidFill>
              </a:rPr>
              <a:t>Prepared for AMG Executive Team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4599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E"/>
                </a:solidFill>
              </a:rPr>
              <a:t>Take-home case submission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32520" y="2926080"/>
            <a:ext cx="1618488" cy="0"/>
          </a:xfrm>
          <a:prstGeom prst="line">
            <a:avLst/>
          </a:prstGeom>
          <a:noFill/>
          <a:ln w="1524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680192" y="3273552"/>
            <a:ext cx="0" cy="1325880"/>
          </a:xfrm>
          <a:prstGeom prst="line">
            <a:avLst/>
          </a:prstGeom>
          <a:noFill/>
          <a:ln w="1524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251460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19385B"/>
          </a:solidFill>
          <a:ln w="10160">
            <a:solidFill>
              <a:srgbClr val="355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2670048"/>
            <a:ext cx="12893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Legacy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ERP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893808" y="25146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03536" y="2670048"/>
            <a:ext cx="14721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Modern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Cloud ERP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893808" y="4590288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9385B"/>
          </a:solidFill>
          <a:ln w="10160">
            <a:solidFill>
              <a:srgbClr val="355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03536" y="4745736"/>
            <a:ext cx="147218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Margin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Visibility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recommendation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A controlled core ERP release, not an uncontrolled “replace everything” program.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RECOMMENDATION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0408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Proceed with a business-led, fit-to-standard ERP program with formal readiness gates and a tightly controlled Day-1 scope.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237744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2889504"/>
            <a:ext cx="1005840" cy="1005840"/>
          </a:xfrm>
          <a:prstGeom prst="ellipse">
            <a:avLst/>
          </a:prstGeom>
          <a:solidFill>
            <a:srgbClr val="FDEDEC"/>
          </a:solidFill>
          <a:ln w="12700">
            <a:solidFill>
              <a:srgbClr val="FDED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3070555"/>
            <a:ext cx="10058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80%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9867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custom orders with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margin erosion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2633472"/>
            <a:ext cx="237744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3632" y="2889504"/>
            <a:ext cx="1005840" cy="100584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3070555"/>
            <a:ext cx="10058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C69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7872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operating locations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across US &amp; Canada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97880" y="2633472"/>
            <a:ext cx="237744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889504"/>
            <a:ext cx="1005840" cy="1005840"/>
          </a:xfrm>
          <a:prstGeom prst="ellipse">
            <a:avLst/>
          </a:prstGeom>
          <a:solidFill>
            <a:srgbClr val="FEF4E7"/>
          </a:solidFill>
          <a:ln w="12700">
            <a:solidFill>
              <a:srgbClr val="FEF4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070555"/>
            <a:ext cx="10058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99632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month target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for go-live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32520" y="1408176"/>
            <a:ext cx="2788920" cy="4480560"/>
          </a:xfrm>
          <a:prstGeom prst="roundRect">
            <a:avLst>
              <a:gd name="adj" fmla="val 1967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4272" y="1755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Decision priorities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052560" y="2221992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2951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555480" y="22402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AF2"/>
                </a:solidFill>
              </a:rPr>
              <a:t>Protect continuity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2971800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30449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555480" y="29900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AF2"/>
                </a:solidFill>
              </a:rPr>
              <a:t>Stabilize BOM + labor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52560" y="3721608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37947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555480" y="37398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AF2"/>
                </a:solidFill>
              </a:rPr>
              <a:t>Deliver margin transparency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4471416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45445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555480" y="44897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AF2"/>
                </a:solidFill>
              </a:rPr>
              <a:t>Defer non-critical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Current-state diagnosis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Fragmented applications create unreliable product data, weak costing and operational delays.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2743200"/>
            <a:ext cx="1554480" cy="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0" y="2743200"/>
            <a:ext cx="1463040" cy="-822960"/>
          </a:xfrm>
          <a:prstGeom prst="line">
            <a:avLst/>
          </a:prstGeom>
          <a:noFill/>
          <a:ln w="13970">
            <a:solidFill>
              <a:srgbClr val="CAD3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2743200"/>
            <a:ext cx="1463040" cy="0"/>
          </a:xfrm>
          <a:prstGeom prst="line">
            <a:avLst/>
          </a:prstGeom>
          <a:noFill/>
          <a:ln w="13970">
            <a:solidFill>
              <a:srgbClr val="CAD3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2743200"/>
            <a:ext cx="1463040" cy="822960"/>
          </a:xfrm>
          <a:prstGeom prst="line">
            <a:avLst/>
          </a:prstGeom>
          <a:noFill/>
          <a:ln w="13970">
            <a:solidFill>
              <a:srgbClr val="CAD3D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2402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350008"/>
            <a:ext cx="347472" cy="347472"/>
          </a:xfrm>
          <a:prstGeom prst="ellipse">
            <a:avLst/>
          </a:prstGeom>
          <a:solidFill>
            <a:srgbClr val="FDEDEC"/>
          </a:solidFill>
          <a:ln w="12700">
            <a:solidFill>
              <a:srgbClr val="FDEDE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12553"/>
            <a:ext cx="347472" cy="166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44752" y="2395728"/>
            <a:ext cx="15544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Engineering DB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BOMs + ECNs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212848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275393"/>
            <a:ext cx="347472" cy="166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ERP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48072" y="2258568"/>
            <a:ext cx="132588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Legacy ERP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Finance • MRP • Procurement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001000" y="14173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1572768"/>
            <a:ext cx="16550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Cloud CRM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unintegrated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001000" y="237744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532888"/>
            <a:ext cx="16550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HRIS / Payroll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siloed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001000" y="33375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3493008"/>
            <a:ext cx="16550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Excel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shadow reporting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429000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Fragile nightly sync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" y="457200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0160">
            <a:solidFill>
              <a:srgbClr val="F5B7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773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Operational impact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4128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BOM failures drive delays, rework and expedited costs.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389120" y="457200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EAF3F8"/>
          </a:solidFill>
          <a:ln w="10160">
            <a:solidFill>
              <a:srgbClr val="B6D7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47731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69"/>
                </a:solidFill>
              </a:rPr>
              <a:t>Financial impact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26864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Unreliable labor capture prevents trusted margin reporting.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001000" y="457200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FEF4E7"/>
          </a:solidFill>
          <a:ln w="10160">
            <a:solidFill>
              <a:srgbClr val="FAD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773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D00"/>
                </a:solidFill>
              </a:rPr>
              <a:t>Management impact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50474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Executives lack a single reliable contribution-margin view.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objectives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Measure the program by operational control and margin visibility, not just system launch.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5074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764792"/>
            <a:ext cx="594360" cy="59436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71777"/>
            <a:ext cx="594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C69"/>
                </a:solidFill>
              </a:rPr>
              <a:t>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700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Protect continuity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645920" y="2075688"/>
            <a:ext cx="3749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Keep all five locations able to buy, build, ship, invoice and close during transition.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190488" y="1417320"/>
            <a:ext cx="5074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764792"/>
            <a:ext cx="594360" cy="594360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71777"/>
            <a:ext cx="594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1700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Govern product data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178040" y="2075688"/>
            <a:ext cx="3749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Create one controlled flow for items, BOMs, revisions and ECNs.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5074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" y="3730752"/>
            <a:ext cx="594360" cy="594360"/>
          </a:xfrm>
          <a:prstGeom prst="ellipse">
            <a:avLst/>
          </a:prstGeom>
          <a:solidFill>
            <a:srgbClr val="FEF4E7"/>
          </a:solidFill>
          <a:ln w="12700">
            <a:solidFill>
              <a:srgbClr val="FEF4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37737"/>
            <a:ext cx="594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$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666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Improve margin visibility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1645920" y="4041648"/>
            <a:ext cx="3749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Capture material, labor, rework and order cost to compare estimate vs. actual.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190488" y="3383280"/>
            <a:ext cx="50749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3730752"/>
            <a:ext cx="594360" cy="59436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837737"/>
            <a:ext cx="594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670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666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Standardize critical processes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7178040" y="4041648"/>
            <a:ext cx="3749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Reduce uncontrolled spreadsheet workarounds while preserving necessary local controls.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22960" y="5623560"/>
            <a:ext cx="1051560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797296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Executive lens: prioritize requirements that protect continuity, regulatory/financial control, and margin transparency.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approach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A phased program with formal stage gates and one coherent core production release.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Program design principle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Design and test the tightly connected operating chain together: order → engineering/BOM → procurement → inventory → manufacturing → finance.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50008" y="3154680"/>
            <a:ext cx="466344" cy="0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90288" y="3154680"/>
            <a:ext cx="466344" cy="0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30568" y="3154680"/>
            <a:ext cx="466344" cy="0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70848" y="3154680"/>
            <a:ext cx="466344" cy="0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2615184"/>
            <a:ext cx="1691640" cy="1453896"/>
          </a:xfrm>
          <a:prstGeom prst="roundRect">
            <a:avLst>
              <a:gd name="adj" fmla="val 3774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88920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58952" y="331012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Mobilize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758952" y="3575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DDEAF2"/>
                </a:solidFill>
              </a:rPr>
              <a:t>Charter, governance, plan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85800" y="2103120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1534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M1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0" y="2615184"/>
            <a:ext cx="1691640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788920"/>
            <a:ext cx="384048" cy="384048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3C69"/>
                </a:solidFill>
              </a:rPr>
              <a:t>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99232" y="331012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Discover &amp; design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2999232" y="3575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670"/>
                </a:solidFill>
              </a:rPr>
              <a:t>Fit-to-standard workshops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2926080" y="2103120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21534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M2–3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74920" y="2615184"/>
            <a:ext cx="1691640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788920"/>
            <a:ext cx="384048" cy="384048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3C69"/>
                </a:solidFill>
              </a:rPr>
              <a:t>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39512" y="331012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Build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5239512" y="3575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670"/>
                </a:solidFill>
              </a:rPr>
              <a:t>Configure, integrations, data cleanse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5166360" y="2103120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1534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M4–6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15200" y="2615184"/>
            <a:ext cx="1691640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788920"/>
            <a:ext cx="384048" cy="384048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3C69"/>
                </a:solidFill>
              </a:rPr>
              <a:t>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79792" y="331012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Test &amp; train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7479792" y="3575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670"/>
                </a:solidFill>
              </a:rPr>
              <a:t>SIT, UAT, migration rehearsals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7406640" y="2103120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0648" y="21534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M7–10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55480" y="2615184"/>
            <a:ext cx="1691640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0" y="2788920"/>
            <a:ext cx="384048" cy="384048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3C69"/>
                </a:solidFill>
              </a:rPr>
              <a:t>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720072" y="331012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Cutover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9720072" y="3575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670"/>
                </a:solidFill>
              </a:rPr>
              <a:t>Mock close, go-live, hypercare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9646920" y="2103120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10928" y="2153412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M11–12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234440" y="4937760"/>
            <a:ext cx="9601200" cy="749808"/>
          </a:xfrm>
          <a:prstGeom prst="roundRect">
            <a:avLst>
              <a:gd name="adj" fmla="val 7317"/>
            </a:avLst>
          </a:prstGeom>
          <a:solidFill>
            <a:srgbClr val="EAF7F4"/>
          </a:solidFill>
          <a:ln w="10160">
            <a:solidFill>
              <a:srgbClr val="B9E6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0" y="51755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9D8F"/>
                </a:solidFill>
              </a:rPr>
              <a:t>Gate rule: no phase exits solely because the calendar date arrived — each gate requires evidence of process, data, people and control readiness.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sequencing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Include the minimum complete operating backbone at Day 1; defer complexity that can safely wait.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3035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25880"/>
            <a:ext cx="53035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Day-1 must-haves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Deliberately deferred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48056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Finance, multi-entity accounting and close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Order management through invoicing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Item, BOM revision and ECN control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Procurement, inventory and manufacturing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Labor capture and essential margin reporting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Security, approvals and audit controls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48056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Full CRM replacement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Broad HR / payroll transformation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All 20+ years of legacy transactions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Low-value custom reports and dashboards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Non-critical automations and cosmetic enhancements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7212B"/>
                </a:solidFill>
              </a:rPr>
              <a:t>Unproven advanced analytics or AI features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005840" y="5175504"/>
            <a:ext cx="4114800" cy="256032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5225796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Include when it protects operations, compliance or near-term margin visibility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720840" y="5175504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522579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Defer when a safe workaround exists and Day-1 risk exceeds Day-1 value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historical access strategy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Preserve uninterrupted access without loading every legacy transaction into the new ERP.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Recommended treatment by data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EAF7F4"/>
          </a:solidFill>
          <a:ln w="10160">
            <a:solidFill>
              <a:srgbClr val="B9E6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90088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EAF3F8"/>
          </a:solidFill>
          <a:ln w="10160">
            <a:solidFill>
              <a:srgbClr val="B6D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88536"/>
            <a:ext cx="3246120" cy="1024128"/>
          </a:xfrm>
          <a:prstGeom prst="roundRect">
            <a:avLst>
              <a:gd name="adj" fmla="val 5357"/>
            </a:avLst>
          </a:prstGeom>
          <a:solidFill>
            <a:srgbClr val="FEF4E7"/>
          </a:solidFill>
          <a:ln w="10160">
            <a:solidFill>
              <a:srgbClr val="FAD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Migrate fully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Active masters, approved BOMs, open orders, AR/AP, inventory, GL opening balances.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60120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69"/>
                </a:solidFill>
              </a:rPr>
              <a:t>Migrate selectively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472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Recent comparative financial, customer, supplier and profitability history where value justifies effort.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60120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D00"/>
                </a:solidFill>
              </a:rPr>
              <a:t>Archive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457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12B"/>
                </a:solidFill>
              </a:rPr>
              <a:t>Older closed transactions, obsolete records and superseded revisions in secure read-only access.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669280" y="2880360"/>
            <a:ext cx="484632" cy="0"/>
          </a:xfrm>
          <a:prstGeom prst="line">
            <a:avLst/>
          </a:prstGeom>
          <a:noFill/>
          <a:ln w="1905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05472" y="2880360"/>
            <a:ext cx="484632" cy="0"/>
          </a:xfrm>
          <a:prstGeom prst="line">
            <a:avLst/>
          </a:prstGeom>
          <a:noFill/>
          <a:ln w="1905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41664" y="2880360"/>
            <a:ext cx="484632" cy="0"/>
          </a:xfrm>
          <a:prstGeom prst="line">
            <a:avLst/>
          </a:prstGeom>
          <a:noFill/>
          <a:ln w="1905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2304288"/>
            <a:ext cx="1078992" cy="11247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Extract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670"/>
                </a:solidFill>
              </a:rPr>
              <a:t>Legacy ERP + Engineering DB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245352" y="2304288"/>
            <a:ext cx="1078992" cy="11247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Cleanse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670"/>
                </a:solidFill>
              </a:rPr>
              <a:t>Duplicates, units, revisions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7781544" y="2304288"/>
            <a:ext cx="1078992" cy="11247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Load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91272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670"/>
                </a:solidFill>
              </a:rPr>
              <a:t>ERP + reporting archive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9317736" y="2304288"/>
            <a:ext cx="1078992" cy="11247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Reconcile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27464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670"/>
                </a:solidFill>
              </a:rPr>
              <a:t>Business owner sign-off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736592" y="4343400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617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Key decision: business owners, not IT alone, approve whether data is correct and fit for go-live.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and month-end continuity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Do not go live until executives and Finance can trust the numbers.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22192" y="3063240"/>
            <a:ext cx="704088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99832" y="3063240"/>
            <a:ext cx="658368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304288"/>
            <a:ext cx="2468880" cy="256032"/>
          </a:xfrm>
          <a:prstGeom prst="roundRect">
            <a:avLst>
              <a:gd name="adj" fmla="val 21429"/>
            </a:avLst>
          </a:prstGeom>
          <a:solidFill>
            <a:srgbClr val="123C69"/>
          </a:solidFill>
          <a:ln w="12700">
            <a:solidFill>
              <a:srgbClr val="123C6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35458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Before go-live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69848" y="2816352"/>
            <a:ext cx="2331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KPI catalogue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Legacy report snapshots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Mock close rehearsal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304288"/>
            <a:ext cx="2468880" cy="256032"/>
          </a:xfrm>
          <a:prstGeom prst="roundRect">
            <a:avLst>
              <a:gd name="adj" fmla="val 21429"/>
            </a:avLst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235458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During cutover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01768" y="2816352"/>
            <a:ext cx="2331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Freeze rules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Opening balances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Subledger reconciliation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549640" y="201168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304288"/>
            <a:ext cx="2468880" cy="256032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3688" y="2354580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After go-live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33688" y="2816352"/>
            <a:ext cx="2331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New ERP current reporting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Archive historical drill-down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First-close support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1005840" y="4937760"/>
            <a:ext cx="10149840" cy="713232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 w="10160">
            <a:solidFill>
              <a:srgbClr val="B6D7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5175504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C69"/>
                </a:solidFill>
              </a:rPr>
              <a:t>Governed KPI definition: contribution margin must use agreed treatment of material, labor, subcontracting, freight, rework and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risks and mitigations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Focus executive attention on the few risks that can materially harm continuity or trust.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270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Operational disruption at go-live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800600" y="14447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Mock cutovers, go/no-go criteria, fallback points, hypercare roster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25880" y="2039112"/>
            <a:ext cx="9875520" cy="0"/>
          </a:xfrm>
          <a:prstGeom prst="line">
            <a:avLst/>
          </a:prstGeom>
          <a:noFill/>
          <a:ln w="5080">
            <a:solidFill>
              <a:srgbClr val="CA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295144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0487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17320" y="2340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Poor BOM / master data quality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800600" y="23225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Data owners, cleansing, migration rehearsals, Engineering + Operations sign-off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25880" y="2916936"/>
            <a:ext cx="9875520" cy="0"/>
          </a:xfrm>
          <a:prstGeom prst="line">
            <a:avLst/>
          </a:prstGeom>
          <a:noFill/>
          <a:ln w="5080">
            <a:solidFill>
              <a:srgbClr val="CAD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7296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EF4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8269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00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17320" y="3218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Scope creep and over-customization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Fit-to-standard rules, change-control board, post-go-live backlog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25880" y="3794760"/>
            <a:ext cx="9875520" cy="0"/>
          </a:xfrm>
          <a:prstGeom prst="line">
            <a:avLst/>
          </a:prstGeom>
          <a:noFill/>
          <a:ln w="5080">
            <a:solidFill>
              <a:srgbClr val="CAD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050792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EF4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6052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D00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17320" y="4096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User adoption failure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800600" y="40782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Super-user network, role-based training, practice scenarios, adoption metrics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25880" y="4672584"/>
            <a:ext cx="9875520" cy="0"/>
          </a:xfrm>
          <a:prstGeom prst="line">
            <a:avLst/>
          </a:prstGeom>
          <a:noFill/>
          <a:ln w="5080">
            <a:solidFill>
              <a:srgbClr val="CAD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928616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A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0383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C69"/>
                </a:solidFill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417320" y="49743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Reporting / first-close failure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800600" y="49560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KPI catalogue, reconciliations, mock close, dedicated Finance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325880" y="5550408"/>
            <a:ext cx="9875520" cy="0"/>
          </a:xfrm>
          <a:prstGeom prst="line">
            <a:avLst/>
          </a:prstGeom>
          <a:noFill/>
          <a:ln w="5080">
            <a:solidFill>
              <a:srgbClr val="CAD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5897880"/>
            <a:ext cx="10515600" cy="41148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6025896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</a:rPr>
              <a:t>Risk ownership must sit with named business leaders; IT can coordinate but cannot approve business data or process readiness alone.</a:t>
            </a:r>
            <a:endParaRPr lang="en-US" sz="9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and decision rights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Run the project as enterprise transformation, not an IT-only software deployment.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0" cy="484632"/>
          </a:xfrm>
          <a:prstGeom prst="line">
            <a:avLst/>
          </a:prstGeom>
          <a:noFill/>
          <a:ln w="1778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2971800"/>
            <a:ext cx="0" cy="484632"/>
          </a:xfrm>
          <a:prstGeom prst="line">
            <a:avLst/>
          </a:prstGeom>
          <a:noFill/>
          <a:ln w="1778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26480" y="4023360"/>
            <a:ext cx="0" cy="484632"/>
          </a:xfrm>
          <a:prstGeom prst="line">
            <a:avLst/>
          </a:prstGeom>
          <a:noFill/>
          <a:ln w="17780">
            <a:solidFill>
              <a:srgbClr val="3D7E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325880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1481328"/>
            <a:ext cx="3712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Executive Sponsor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Owns outcomes; removes barriers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160520" y="2377440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532888"/>
            <a:ext cx="3712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Steering Committee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Approves scope, budget, policy and go-live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160520" y="3429000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3584448"/>
            <a:ext cx="3712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Program Manager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Integrated plan, RAID, dependencies, readiness evidence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29000" y="44805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EAF3F8"/>
          </a:solidFill>
          <a:ln w="10160">
            <a:solidFill>
              <a:srgbClr val="B6D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4636008"/>
            <a:ext cx="5175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Process Owners + Data Owners + Super Users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17212B"/>
                </a:solidFill>
              </a:rPr>
              <a:t>Design, test, approve data, train and support adoption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85800" y="1874520"/>
            <a:ext cx="2697480" cy="33375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Stage gates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651760"/>
            <a:ext cx="201168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7212B"/>
                </a:solidFill>
              </a:rPr>
              <a:t>Design approval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7212B"/>
                </a:solidFill>
              </a:rPr>
              <a:t>Build complete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7212B"/>
                </a:solidFill>
              </a:rPr>
              <a:t>SIT exit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7212B"/>
                </a:solidFill>
              </a:rPr>
              <a:t>UAT exit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17212B"/>
                </a:solidFill>
              </a:rPr>
              <a:t>Go-live authorization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052560" y="1874520"/>
            <a:ext cx="2514600" cy="33375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176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Decision rule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08592" y="2706624"/>
            <a:ext cx="1783080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1F3A"/>
                </a:solidFill>
              </a:rPr>
              <a:t>Major changes to scope, budget or timeline require documented impact analysis and Steering Committee approval.</a:t>
            </a:r>
            <a:endParaRPr lang="en-US" sz="12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measures and next executive actions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Baseline performance now; hold the program accountable for business outcomes after go-live.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7620">
            <a:solidFill>
              <a:srgbClr val="CAD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636776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67792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344168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BOM reliability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1344168" y="1874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Critical sync / release failures reduced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1636776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67792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Labor capture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5074920" y="1874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High compliance with time entry by role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119872" y="141732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36776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67792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805672" y="15727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Margin visibility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8805672" y="1874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Order contribution margin available and trusted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58368" y="25877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2807208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28483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344168" y="2743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Close continuity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1344168" y="3044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First live close completed with reconciled subledgers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389120" y="25877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2807208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28483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074920" y="2743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Adoption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5074920" y="3044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Users trained; spreadsheet workarounds reduced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8119872" y="2587752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CAD3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807208"/>
            <a:ext cx="347472" cy="347472"/>
          </a:xfrm>
          <a:prstGeom prst="ellipse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8483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A9D8F"/>
                </a:solidFill>
              </a:rPr>
              <a:t>✓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805672" y="2743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A"/>
                </a:solidFill>
              </a:rPr>
              <a:t>Operations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805672" y="3044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670"/>
                </a:solidFill>
              </a:rPr>
              <a:t>Production delays and expedite costs trending down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822960" y="4251960"/>
            <a:ext cx="10515600" cy="1325880"/>
          </a:xfrm>
          <a:prstGeom prst="roundRect">
            <a:avLst>
              <a:gd name="adj" fmla="val 4138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5079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Immediate executive actions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43000" y="4892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Confirm sponsor and Steering Committee • Approve Day-1 scope principles • Appoint process and data owners • Protect SME capacity • Authorize Month 1 discovery and baseline measurement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Alpha Manufacturing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AMG ERP Transformation Presentation</dc:title>
  <dc:subject>Alpha Manufacturing Group ERP Transformation Case</dc:subject>
  <dc:creator>OpenAI</dc:creator>
  <cp:lastModifiedBy>OpenAI</cp:lastModifiedBy>
  <cp:revision>1</cp:revision>
  <dcterms:created xsi:type="dcterms:W3CDTF">2026-07-25T00:57:26Z</dcterms:created>
  <dcterms:modified xsi:type="dcterms:W3CDTF">2026-07-25T00:57:26Z</dcterms:modified>
</cp:coreProperties>
</file>